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72aa1517834b44" /><Relationship Type="http://schemas.openxmlformats.org/officeDocument/2006/relationships/extended-properties" Target="/docProps/app.xml" Id="R00e334a027e24f43" /><Relationship Type="http://schemas.openxmlformats.org/officeDocument/2006/relationships/officeDocument" Target="/ppt/presentation.xml" Id="Ra11685ab734540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437866882d4780"/>
  </p:sldMasterIdLst>
  <p:notesMasterIdLst>
    <p:notesMasterId xmlns:r="http://schemas.openxmlformats.org/officeDocument/2006/relationships" r:id="R8c042debc270469d"/>
  </p:notesMasterIdLst>
  <p:sldIdLst>
    <p:sldId xmlns:r="http://schemas.openxmlformats.org/officeDocument/2006/relationships" id="256" r:id="R0b6a032c09914e89"/>
    <p:sldId xmlns:r="http://schemas.openxmlformats.org/officeDocument/2006/relationships" id="257" r:id="Ra73c73d2e1c04467"/>
    <p:sldId xmlns:r="http://schemas.openxmlformats.org/officeDocument/2006/relationships" id="258" r:id="R33cf94b3f11b46fc"/>
    <p:sldId xmlns:r="http://schemas.openxmlformats.org/officeDocument/2006/relationships" id="259" r:id="Rf7793d4097674f2d"/>
    <p:sldId xmlns:r="http://schemas.openxmlformats.org/officeDocument/2006/relationships" id="260" r:id="R2dc3561130444521"/>
    <p:sldId xmlns:r="http://schemas.openxmlformats.org/officeDocument/2006/relationships" id="261" r:id="R44e37d4909074bfa"/>
    <p:sldId xmlns:r="http://schemas.openxmlformats.org/officeDocument/2006/relationships" id="262" r:id="Rd3abaf3f4b9c4b0c"/>
    <p:sldId xmlns:r="http://schemas.openxmlformats.org/officeDocument/2006/relationships" id="263" r:id="Re4b6fcf212d9490d"/>
    <p:sldId xmlns:r="http://schemas.openxmlformats.org/officeDocument/2006/relationships" id="264" r:id="R5304b0922b4947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437866882d4780" /><Relationship Type="http://schemas.openxmlformats.org/officeDocument/2006/relationships/theme" Target="/ppt/theme/theme1.xml" Id="R60f8c462a5e54d9b" /><Relationship Type="http://schemas.openxmlformats.org/officeDocument/2006/relationships/notesMaster" Target="/ppt/notesMasters/notesMaster1.xml" Id="R8c042debc270469d" /><Relationship Type="http://schemas.openxmlformats.org/officeDocument/2006/relationships/presProps" Target="/ppt/presProps.xml" Id="R3684ed8717ca4dcf" /><Relationship Type="http://schemas.openxmlformats.org/officeDocument/2006/relationships/viewProps" Target="/ppt/viewProps.xml" Id="Rb203bd86d2ec440a" /><Relationship Type="http://schemas.openxmlformats.org/officeDocument/2006/relationships/tableStyles" Target="/ppt/tableStyles.xml" Id="Rd1c8ec2dc77e42c6" /><Relationship Type="http://schemas.openxmlformats.org/officeDocument/2006/relationships/slide" Target="/ppt/slides/slide1.xml" Id="R0b6a032c09914e89" /><Relationship Type="http://schemas.openxmlformats.org/officeDocument/2006/relationships/slide" Target="/ppt/slides/slide2.xml" Id="Ra73c73d2e1c04467" /><Relationship Type="http://schemas.openxmlformats.org/officeDocument/2006/relationships/slide" Target="/ppt/slides/slide3.xml" Id="R33cf94b3f11b46fc" /><Relationship Type="http://schemas.openxmlformats.org/officeDocument/2006/relationships/slide" Target="/ppt/slides/slide4.xml" Id="Rf7793d4097674f2d" /><Relationship Type="http://schemas.openxmlformats.org/officeDocument/2006/relationships/slide" Target="/ppt/slides/slide5.xml" Id="R2dc3561130444521" /><Relationship Type="http://schemas.openxmlformats.org/officeDocument/2006/relationships/slide" Target="/ppt/slides/slide6.xml" Id="R44e37d4909074bfa" /><Relationship Type="http://schemas.openxmlformats.org/officeDocument/2006/relationships/slide" Target="/ppt/slides/slide7.xml" Id="Rd3abaf3f4b9c4b0c" /><Relationship Type="http://schemas.openxmlformats.org/officeDocument/2006/relationships/slide" Target="/ppt/slides/slide8.xml" Id="Re4b6fcf212d9490d" /><Relationship Type="http://schemas.openxmlformats.org/officeDocument/2006/relationships/slide" Target="/ppt/slides/slide9.xml" Id="R5304b0922b4947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810ca533e64d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21cac49a5e4b25" /><Relationship Type="http://schemas.openxmlformats.org/officeDocument/2006/relationships/notesMaster" Target="/ppt/notesMasters/notesMaster1.xml" Id="Ra7fa841963d34a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9289aa6cfc43a2" /><Relationship Type="http://schemas.openxmlformats.org/officeDocument/2006/relationships/notesMaster" Target="/ppt/notesMasters/notesMaster1.xml" Id="Rc9568457b6264e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41f99e01294957" /><Relationship Type="http://schemas.openxmlformats.org/officeDocument/2006/relationships/notesMaster" Target="/ppt/notesMasters/notesMaster1.xml" Id="R583c4ded89fb4e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a41fceb9d74aa4" /><Relationship Type="http://schemas.openxmlformats.org/officeDocument/2006/relationships/notesMaster" Target="/ppt/notesMasters/notesMaster1.xml" Id="R1c46693b19cb4b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86188b4ab5401c" /><Relationship Type="http://schemas.openxmlformats.org/officeDocument/2006/relationships/notesMaster" Target="/ppt/notesMasters/notesMaster1.xml" Id="Rbca5255e714e4a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3d535ff69d4939" /><Relationship Type="http://schemas.openxmlformats.org/officeDocument/2006/relationships/notesMaster" Target="/ppt/notesMasters/notesMaster1.xml" Id="R8d42ec4eb1db49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eff2570403448e" /><Relationship Type="http://schemas.openxmlformats.org/officeDocument/2006/relationships/notesMaster" Target="/ppt/notesMasters/notesMaster1.xml" Id="Re4fc907880614d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3a9ed1c9fe45c7" /><Relationship Type="http://schemas.openxmlformats.org/officeDocument/2006/relationships/notesMaster" Target="/ppt/notesMasters/notesMaster1.xml" Id="R52cc3a3e973640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4769f6f5e54c25" /><Relationship Type="http://schemas.openxmlformats.org/officeDocument/2006/relationships/notesMaster" Target="/ppt/notesMasters/notesMaster1.xml" Id="R77dbba3416bb40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3c3e09a1e425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f8cd357eb414824" /><Relationship Type="http://schemas.openxmlformats.org/officeDocument/2006/relationships/slideLayout" Target="/ppt/slideLayouts/slideLayout2.xml" Id="R583f0e311e2b40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3f0e311e2b40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1f1b1429d64602" /><Relationship Type="http://schemas.openxmlformats.org/officeDocument/2006/relationships/notesSlide" Target="/ppt/notesSlides/notesSlide1.xml" Id="R5dc2fd8ded9349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82237be66d4842" /><Relationship Type="http://schemas.openxmlformats.org/officeDocument/2006/relationships/notesSlide" Target="/ppt/notesSlides/notesSlide2.xml" Id="R712c2dbfd9a940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aefd23e99a4c66" /><Relationship Type="http://schemas.openxmlformats.org/officeDocument/2006/relationships/notesSlide" Target="/ppt/notesSlides/notesSlide3.xml" Id="R8e8cefa5c7de47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d35c3c72e420d" /><Relationship Type="http://schemas.openxmlformats.org/officeDocument/2006/relationships/notesSlide" Target="/ppt/notesSlides/notesSlide4.xml" Id="R3541baaf889b40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35e8729a6649a9" /><Relationship Type="http://schemas.openxmlformats.org/officeDocument/2006/relationships/notesSlide" Target="/ppt/notesSlides/notesSlide5.xml" Id="Rb6e94ab17bc446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9aba72ec754695" /><Relationship Type="http://schemas.openxmlformats.org/officeDocument/2006/relationships/notesSlide" Target="/ppt/notesSlides/notesSlide6.xml" Id="R5ee3ef525cc54f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8bff57873f4801" /><Relationship Type="http://schemas.openxmlformats.org/officeDocument/2006/relationships/notesSlide" Target="/ppt/notesSlides/notesSlide7.xml" Id="R4767d4c8f9ce40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f036f1c9c14215" /><Relationship Type="http://schemas.openxmlformats.org/officeDocument/2006/relationships/notesSlide" Target="/ppt/notesSlides/notesSlide8.xml" Id="Rcbc91f3d105f44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1c34c1b0bf46fc" /><Relationship Type="http://schemas.openxmlformats.org/officeDocument/2006/relationships/notesSlide" Target="/ppt/notesSlides/notesSlide9.xml" Id="Rf6a2e03933ad49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81B274-895C-4E23-9CBF-8970889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2332A0-72E4-4863-950E-14ACC4D9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89897-5530-416C-A631-5E445E9B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38375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354EF-666D-4108-9707-2DC1677A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638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Harness Supervisor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77217-97D4-42ED-9947-B60918EC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DF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EDF6"/>
                </a:solidFill>
                <a:latin typeface="Arial"/>
                <a:ea typeface="Arial"/>
                <a:cs typeface="Arial"/>
              </a:rPr>
              <a:t>Prompt-first local/remote coding orchestration is now integrated.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A5A71-9630-4D2D-A202-C7468AF7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647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Agentic Acceleration Week / Supervisor 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2FB5A-7CE1-494C-B388-E986E37E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7239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Built as a Rust CLI/TUI that plans objectives remotely, implements locally, escalates through tickets, and validates through durable state.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E0880-E107-4001-A92B-707F0E15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A482-79E2-42BC-A3C4-46EA6965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DC273-28C6-42FE-BEA1-85C6ECE3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delivery phases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AC4AC-2E4E-4345-81D6-D933BA8C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MVP, TUI/supervisor, prompt-first objectives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4A1C6-4122-4E2A-8F21-D22F85CD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476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C6F58-6409-4AEC-AB34-2E196FA4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48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A3ACE-B35A-4047-8ECD-B251C68F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067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completed workstreams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07700-9BC5-4A29-B92D-7DCA1CBA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76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task files marked acceptance complete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32F9B-4618-4882-B476-E13D386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76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C912C-E5A8-4057-9B8A-48DF106D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48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348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34B49-6C38-4E09-B67D-F4365005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67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library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57C124-AABA-4A95-8364-7EB264F2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276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330 passed before sandbox denied fake HTTP paths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34975-330D-42D9-B446-CC15170C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76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0F4E3-418E-4564-A08D-70FDA48E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482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47k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D4B59-30A6-4BFD-89F4-2B17ECA5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67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source/test 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C93F66-FEC9-4267-B6E9-8CBBC43E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768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Rust implementation plus E2E and PTY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353C47-76CA-4A19-A130-B64770C2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81300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19050">
            <a:solidFill>
              <a:srgbClr val="00A3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2F5E82-0485-40BF-9A3F-831EEE1F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289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Remote</a:t>
            </a:r>
          </a:p>
          <a:p xmlns:a="http://schemas.openxmlformats.org/drawingml/2006/main">
            <a:pPr algn="ctr">
              <a:defRPr sz="1275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reasoning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B7E85-B9FB-4116-A830-5ECBBAD7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623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79D44D-9E69-45A2-A588-C9B34218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8620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Local</a:t>
            </a:r>
          </a:p>
          <a:p xmlns:a="http://schemas.openxmlformats.org/drawingml/2006/main">
            <a:pPr algn="ctr">
              <a:defRPr sz="1275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patching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EAC2F-C4B8-4A2A-AD06-51BDF285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No logo asset was supplied, so this deck uses Arm-aligned visual cues without approximating the Arm mark.</a:t>
            </a:r>
          </a:p>
        </p:txBody>
      </p:sp>
    </p:spTree>
    <p:extLst>
      <p:ext uri="{BB962C8B-B14F-4D97-AF65-F5344CB8AC3E}">
        <p14:creationId xmlns:p14="http://schemas.microsoft.com/office/powerpoint/2010/main" val="9225822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4FE759-6E47-4B24-9C0C-E157A96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43AA3A9E-7C0D-4F0E-8C53-AFCDE2E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075D1E81-CAA8-41BD-96B2-4FF102FE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WORKFLOW SHIFT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BAFCE-29CA-4FB7-B733-89DCAE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The workflow moved from manual task control to objective supervision.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28BE5-B8EA-4563-81C1-B1C5C36E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The new path keeps CLI escape hatches, but the primary experience is a natural-language objective that becomes planned, executed, escalated, and validated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00F11-8D96-4F22-8F61-0FFBCF40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Before: command-first task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9A208-9A77-4459-8543-9AB95392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E28C59-D560-4DBA-B19F-9ACD4803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0825"/>
            <a:ext cx="2028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User creates 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939E8-5D2F-4127-B379-BC9C340A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Title, goal, validation are supplied manually.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E7ACD-7DEE-4A9E-9E59-9E2D4616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57625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BEE5E-7B89-403C-805C-8BC32A0A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2028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Run and inspect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BCB0C-DAD6-4320-9E10-084DA76B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57675"/>
            <a:ext cx="2028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Local worker may get stuck; user resolves tickets.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EC8EC7-697A-48BC-87E8-D28763EB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23336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FA343-43E1-4C69-A759-261DB03D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72075"/>
            <a:ext cx="2028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Resume by command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E2640-3232-4675-A167-43ED060D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2028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Manual loop continues until complete.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596B3-7B4A-4187-9EF0-E08B389B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87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904F9-829B-4450-844E-36E12771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12432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563E1-4E00-498C-B237-AC4138FC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904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Product</a:t>
            </a:r>
          </a:p>
          <a:p xmlns:a="http://schemas.openxmlformats.org/drawingml/2006/main">
            <a:pPr algn="ctr">
              <a:defRPr sz="105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061CE0-6B58-4FAA-A782-3FBBC0C5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90750"/>
            <a:ext cx="361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Now: prompt-first objective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FFC74-5388-41A3-BD62-C20B3CD6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238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7033F-09C0-494B-B219-BC9EA6E1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032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Prompt objective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292E6-5574-4BC1-B4E3-8D78DEB8C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Plain TUI input or objective start CLI.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D92AF2-8BF4-4F3A-AD9C-974B3725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238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6B2EC-1832-41EC-8786-B6B4B548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0032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Remote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CF02A-DD2B-4334-A42D-248371C2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Strict schema produces criteria, tasks, and validation.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76068-9CAD-42F6-97F7-36876734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860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28DE0-E040-4B24-AEF9-719A5BC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717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D3CBA9-16F3-4645-BC47-CFC44723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238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01CCC-45FD-4583-89FB-20EA9700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Local execution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DEC925-8421-48C7-8E15-9484189B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9575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Ollama worker applies patches inside isolated worktrees.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3867EC-40CC-4C53-8F07-1C8964BE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238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403B1E-88E9-4323-BF8B-EB47D852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1952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Ticket resolution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9AA85-6ED1-4B08-B006-6AB2C1BE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95750"/>
            <a:ext cx="1933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Remote model re-enters only when local work is stuck.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C754C4-1A3F-4E89-BE85-F0354EEC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05275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802F7E-3E7C-40A9-BBE3-4746535D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90975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89B886-4198-47A1-9E34-6AB14FA9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14900"/>
            <a:ext cx="5000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2E854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4E560C-35F7-4795-864E-A006F9C3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38725"/>
            <a:ext cx="4695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Acceptance validation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5192E3-C185-4065-8A12-2F3963E4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14950"/>
            <a:ext cx="4695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Objective closes only after trusted validation and persisted terminal state.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82D4B6-1873-4694-8B29-740CCF08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46AB44-F8CD-4EC1-AA32-F6111354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Source: Phase 2 and Phase 3 design docs; README workflow.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7D7B67-3AF4-4559-8A8B-1E9386A3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863504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85876D-ACEC-4D3A-87DE-ACEB961A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F618A67A-223B-415A-9893-8EEDE198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90E91CD8-8B40-4896-9B24-F748E3F2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A02EB-451D-4D9B-9D05-92231AE7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Remote reasoning is useful because durable state keeps it from touching code directly.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6459B-DE81-44AE-9D15-2176F891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Every model role is separated by schema validation, redaction, policy, SQLite state, and worktree isolation.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EE039-4C69-4D0A-9296-BAFB7033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112520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9DAC82-431A-4F40-AC37-CCD5486D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User surfaces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62198-92A1-405F-AD05-EA135BB8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62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Remote reasoning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90410-249B-441B-9716-72529F82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Harness control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B6828-3828-4A49-95D4-8299DBAE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Local implementation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075612-B898-490C-B473-4F73833D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176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1CAC66-EC29-4D06-BB01-C21242C4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7025"/>
            <a:ext cx="1457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CLI / TUI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D216B-8AEF-432E-9DFF-4C1D68D0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457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objective start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slash commands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shell escape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54155-6A67-44E9-9052-FF005A3F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43200"/>
            <a:ext cx="1952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7FC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E1493-DEE9-4DA2-B957-06C9C5A3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86702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Planner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01F603-579A-4D15-8323-DEAA922F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43250"/>
            <a:ext cx="1647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acceptance criteria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task graph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validation commands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D88D64-2C58-4C3B-8CB9-01E9A1EB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432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8C22C-2AE5-4375-BC8B-3E8792BD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8670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Objective runtime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58C34-9F96-4AF4-BA44-5F6F3B9D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strict schema parse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safety review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progress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2F0C2C-0FFC-4E9B-B70B-BFEFF946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2E85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36843-B4F7-4B20-94A7-88DDA92E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6702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Local worker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00865-01B7-4526-9EAA-27FC3734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43250"/>
            <a:ext cx="1933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Ollama Rust model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patch or STUCK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attempt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6C24C-C5D3-40F6-876B-7E1CBD4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2004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ED4C8-4FD6-4A41-828F-441E7B70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86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EA8BD7-D741-4C4B-8ED5-1FC5D08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2004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E944F2-56DD-42E6-8234-71299F64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086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4CC969-70E3-4F08-B144-1F3FB12A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004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93A13D-9E9F-4D74-B123-FFE1DB53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861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3129A-F830-4892-9B93-ED5161C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148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FE1281-0277-432B-AF2D-FFA4654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386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SQLite store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5AD39-26FC-408E-B0F3-FA043FA1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5148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objectives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tasks/runs/tickets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artifacts/events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DAC1D-5212-43C0-984C-F4071A67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14800"/>
            <a:ext cx="1952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E6A7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4EB0AB-9838-4F56-AF43-08650A17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23862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A7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A700"/>
                </a:solidFill>
                <a:latin typeface="Arial"/>
                <a:ea typeface="Arial"/>
                <a:cs typeface="Arial"/>
              </a:rPr>
              <a:t>Ticket resolver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C1DF7-5D9A-4CBE-830C-7BEF4D7D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514850"/>
            <a:ext cx="1647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diagnostic guidance only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no patches or scripts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54BEA2-1B66-48A6-B9FD-C0B6F494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14800"/>
            <a:ext cx="22383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54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82D3E9-AC1E-44B5-9CDE-061BE738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19335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Worktree + validation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58CA53-D3EB-4AB9-A95C-C05DDA38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19335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isolated branch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patch safety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trusted commands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BB9DA9-C00E-4C34-9280-61D3520D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720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597ADF-5FD6-4B22-9BCC-0577A7F6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4577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B36C1E-00E4-4AEA-8FE1-328E9156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720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9FCA70-0D69-45AB-8C8C-2F94AD26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4577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6A7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A70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50B7E8-83A7-47A5-A52D-4093AF51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Remote path never applies code; local path never plans objectives.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DD2E51-A2C1-43AC-A0D9-1E011345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9A08F1-EC4F-4E82-8F1E-8876D05A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Source: Phase 3 Design model roles and core invariants.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186251-63C0-4598-B1C1-E32D2965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19691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C1E34A-2EBD-4921-872C-230206D3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62E86320-9D8C-4455-9A85-61E0A787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54638125-5925-4DB8-B0EE-99371C70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DELIVERY ARC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A772F-A426-4E0A-BFD3-60D55F29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The implementation layered product capability on top of safety foundations.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3F9A4-ED9F-44E4-BB97-32F477C6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Each phase preserved the same invariant: model output is evidence until harness validates, persists, and executes the allowed next step.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CF42D-C658-4294-82DF-9E42123C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04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39C1D-B187-475E-82A8-3C20911D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5BB8B-CC16-4EF5-8EE6-ACF22D25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C3408-4823-4F27-AAEA-E3447BD8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667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008B2D-8EAF-492A-A5E4-286CF154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Durable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13751-5DD9-4F79-8E9A-AA75B1E0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CLI/runtime, SQLite state, worktrees, providers/fakes, redaction, patch/STUCK parser, orchestrator/service.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F2266-F313-40DA-99E3-39E5A9A4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A4842-2601-4371-AAC8-21C46EFA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7180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2617D-89F0-4CEB-9330-169A1BD5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76700"/>
            <a:ext cx="2667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5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A56B2-BE1B-42A8-9D1D-689BC9CF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200525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Day-to-day supervisor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BF09D3-942D-4AC2-97F7-9B77F5D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7675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Ratatui TUI, autocomplete, foreground supervise loop, runtime events, PTY/binary E2E, shell completions.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6BD96-7AAB-4992-AF53-5E050189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7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25FF7-FF4E-48C9-8847-C1A66832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904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A7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A700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764358-6729-4550-B61B-EFBDDC7F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76700"/>
            <a:ext cx="26670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A7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84A053-F9D8-4AA2-88BE-753A7209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00525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A7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A700"/>
                </a:solidFill>
                <a:latin typeface="Arial"/>
                <a:ea typeface="Arial"/>
                <a:cs typeface="Arial"/>
              </a:rPr>
              <a:t>Prompt-first objectives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8AF40-22A4-4A40-A6F3-FAED1412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Remote planner schema, objective store, monitor, resolver, validation repair, dashboard, slash adapter.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98DFF-0A87-4934-A14A-B62598D6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9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12 Phase 1 task 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BF1B84-C368-47E9-B357-BDA40216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098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13 Phase 2 task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133B33-F1F1-4805-8B62-5DDE20B3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13 Phase 3 workstreams plus support docs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213AC3-DD3A-440E-A839-F1F4E121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16DDE1-0692-4FD3-902E-A4F0F1CE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Source: .ai-context phase design docs and task files.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0B3070-C8B6-4DFF-9EB9-C703D7BDB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615292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30AB71-0804-4F1C-ACCD-683F0C30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28BC6F6F-F0EC-43C4-A815-6F103387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C00108A3-7E04-40A8-AD33-9BF828DC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CAPABILITY 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4031F-47A2-4026-8442-36843F7E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The finished surface is not one feature; it is an operating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75AF8-1EEE-4694-A8D3-672566A1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The work spans user entry, planning, execution, safety, persistence, and verification, which is why the product can recover from stuck local work instead of becoming a thin chat wrapper.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7A5EB-EF88-4511-A288-63EEB766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FD694-1755-4487-BAC0-5C99262F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What shipped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FD92-DE1C-4922-A2B8-CCC5EE97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Safety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5F582A-168B-4053-B8B2-0C6122A7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0E8FB-69CD-4A0E-8635-6507D75E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1455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76611-273D-4055-BFC0-169EE0EF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B9522-164A-4078-ADD3-2FE0D2ED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CLI/TUI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A9C3A-C8B6-4872-8E61-8FEBB9C7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objective start, supervise, slash commands, panes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A18DD-C2EA-42D7-B2C3-3C7A9E1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runtime exit codes and JSON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9D508-4E00-4297-A815-A4DE10D5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README + runtime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E3F5D-786A-4A0E-BF9F-B13A4E6C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usable by people and automation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A69CB-F6FC-4262-9A03-E069CC8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2A297C-DA6A-44C5-9958-A6167E73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Planning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DEE02-6F96-4CA0-A20F-A0BEAEEE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strict planner schema and context packing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EF6A85-93C4-4FC2-9F88-D4A3AD27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schema + path + validation 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70F092-595E-436E-8E3E-8821C0EC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planner/prompts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266A4-B79A-4AFA-9FEA-B8558C8F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remote model defines done, not patches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C69E23-D153-4D7A-B92E-6285726B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00450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A1BF15-951C-4968-9D83-D70B527E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A9B85-F00A-402E-9C6D-A1EDBDC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76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local worker attempts in worktrees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329D2-1318-4417-A727-CD631EAE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76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patch safety and STUCK parser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077BA-35C3-4AB1-B305-BF37E303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orchestrator/workspace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D412F3-D574-4BEB-952F-6A730770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766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repository mutation stays local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A7F036-AAE7-400D-880C-38EFAC24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CFEEB8-7D42-40CF-B2A5-0821800C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Escalation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1705A-EC81-4879-ADB7-B82FE72E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86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objective-aware ticket resolver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60CD7-ACC6-4631-A0E9-80EC29AD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guidance only; no scripts or diffs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312AFF-D828-4138-96AF-F45A37AA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86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resolver rejection tests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397457-8493-495E-BA48-A686A15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remote model only returns at stuck points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D10E97-60CE-432C-B994-2D22CCEE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8FE4C8-724B-4790-8E5F-F133B8F2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05F8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05F86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E62926-3446-44BA-BA21-F94675E2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95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objective validation and repair task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BF3E05-82A9-467F-B9E6-488969EF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895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trusted command classifier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6A496B-11C7-4218-B5F2-80D85205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95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validation tests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D7CCA7-7DA7-435A-892D-1EE5A279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958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terminal state is earned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67887A-9548-4485-8C7A-9DA47E00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72A618-EFE5-43DE-BEE1-73C5CC1C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Source: README, Phase 3 Design, src/runtime, src/orchestrator, src/security.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75FEFC-3598-418B-9AAB-8458BD54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23885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DDA35D-1FC8-44DB-84C0-F60162E1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BF84EA24-07FE-4D79-8B98-81D8F931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1B1A975A-BF0F-42D0-94F8-7A9009E3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SAFETY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2A61B-DCE8-4FAB-90E3-6CC25269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Untrusted model output crosses multiple gates before code can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265A9-B2F0-4892-BE9B-BA8584F4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The design uses different gates for planner output, resolver guidance, local patch attempts, shell execution, and validation commands.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932E0-6386-43F7-AE97-2C97E607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095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9C2BB7-2B64-45F4-BB34-6B698183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504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D110D-2182-4E1F-853C-CF78C1B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81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Remote planner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1F420-0D64-4C7A-A513-101D21B9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Strict JSON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accepted criteria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generated tasks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B2779-633D-439D-AA19-440DA6F3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504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F72FB5-D015-427A-B9F0-56066688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81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Schema +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40E5C-6839-40CF-87C3-F5F3EEFE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5755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unknown fields rejected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path escapes blocked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commands classified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693B0-A26C-4943-A48A-73353C2D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1504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5D68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060F0-2C31-4FD4-9780-5518671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81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Durable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3D5303-4ED0-4E5F-8C01-B735BC56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plan bundle txn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event/artifact record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lease ownership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72731-B4E6-4716-AFAE-5EF8834E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1504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5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08212-5535-41D7-B41F-D7B111CA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81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Local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C2DBE-F520-4608-BD80-ABBA1ECB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5755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diff fence or STUCK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worktree isolation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retry budget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45990-3A9D-4136-82A6-378D7F02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1504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5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79254-AB36-4442-AF83-2C27A174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81325"/>
            <a:ext cx="1200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Patch + 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AAA2A-D2BD-490D-99CE-9A2DB14B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1200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patch safety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trusted argv only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acceptance repair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45478-CAD6-4260-A964-149278C3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05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DEA4F8-C469-4730-B713-7DF54612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909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362DF-D812-43CB-ABA3-2BD76FC9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05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59394-06A8-46D1-BE21-6A01F25F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E4C01C-90E6-434E-B9DA-64D86E2B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EA07C7-F6D6-4007-8865-804A52BC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937E5-AAE0-4327-903C-399B53E4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052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4B7A53-18F9-40F8-B949-D32B436F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171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AE72A2-2054-4B88-B2AB-8FA5C316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Explicit non-goals enforced in 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06C1D4-E371-4FC3-8132-E7FD5AC9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No direct OpenAI patch application. No remote calls during normal local attempts. No automatic trust in generated validation scripts. No automatic reset or cleanup of dirty worktrees.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E06032-6582-47A3-9F2A-8EAA0502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CFB485-788E-4910-9588-75663B9E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Source: Phase 3 core invariants; security and patch modules.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3088EF-A598-4FDF-AB1B-69677147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67337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1FAA5F-906E-49FF-A1FA-1351BBFD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E58E2203-248E-411E-ABA3-9EA0CAC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C18973B7-698F-4ACF-BB6D-4A18380A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IMPLEMENTATION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98F70-B8D1-45C2-B0DC-3BB613C1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The repository now has enough breadth to demonstrate the full supervisor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C6D48A-565C-452D-85E3-248CACBC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The largest modules sit where expected: orchestration, runtime dispatch, state persistence, completion, TUI, providers, workspace, security, and tests.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DEB1C-03D2-42E6-9CEB-998074D6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23FF3-2144-4A42-8552-437B5B03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869B8-C596-4444-BD81-8D4C9DF6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tracked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FD72FA-2695-4232-9F64-7281374D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git ls-files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7A84A-FF55-488F-8078-4322E3EF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1526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2F2A9-2C7F-4C45-B07A-39DF257B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3241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9D22B-E869-45A8-B31B-0CB5673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source modules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77669-F349-45DD-96F9-C78ADB93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52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src files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951E1-E523-4206-AF7C-340D0DF7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526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93D3A-AB0E-4D06-ABF9-8874E8CA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241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47,063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2EC33-1221-44A5-B0D7-07620815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43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code/test/doc lines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645B6-83BB-4AD7-9A65-6B808CD2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52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src + tests + docs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B6364-0747-4425-B717-B3D3652B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526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B23DE-1427-4CD4-A029-0ED7228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265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53991-03B0-4435-A2F9-9A63348A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net new insertions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89CA9-E0CB-47FB-B024-00602AF6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current uncommitted hardening diff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458F7D-749E-49C3-AB7A-07685B16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9982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45A77-6941-4479-9FF1-72F7A7BC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Orchestrator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EC6C6-4154-4930-ACDF-9CCF48AC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561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BEE2CA-92FC-429A-AABD-7EC75150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561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C38CD-DDC0-40B9-8E38-887CA4DD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005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4651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7A9F6-CDFC-478C-81E9-5EFE7EE3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51148-96C3-4BDD-B909-2A6F707B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0100"/>
            <a:ext cx="561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D61070-DE25-454F-BB71-FD127AB7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10100"/>
            <a:ext cx="49244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BC4130-02D5-4EA6-85C3-66A72C2A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4075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E74E7F-A810-4FB3-A0D8-1E3D751A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7493E0-D38F-49AD-96AE-549C8F57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561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BB2C7A-CD57-4CF8-8000-D1595CA3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800600"/>
            <a:ext cx="3667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D604F2-F8FB-4CF0-BABA-6FB18EE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3036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E816B4-4375-4F8D-93E8-7481AC8C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72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E2E tests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FEFEFA-C628-4686-A84C-58CE489F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561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2AB1DE-2CDB-4122-8C01-DCC58AC0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91100"/>
            <a:ext cx="393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C62B6B-C620-4861-A9EE-7D15A955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3256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A011E7-BBB6-4C51-8BEA-9BF8EF8E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Completion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1FF808-F1E2-46F6-A530-C459317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81600"/>
            <a:ext cx="561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72A612-3857-42F5-A443-F1A97031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81600"/>
            <a:ext cx="2343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E1E7CC-60BD-4C51-93A6-E43891B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625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1943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6E8A4A-93AD-4048-B490-0ABE9BD1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Providers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43FCDE-EC55-43A4-B145-773EAC3C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72100"/>
            <a:ext cx="561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69CDB0-1099-4B29-8060-C853A070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72100"/>
            <a:ext cx="2047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04FB02-4DF4-475A-B155-2D7F9146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3530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1691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0DC1E5-2D9B-4E00-8241-965D4309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Largest code areas by line count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EC75E8-F993-4A70-935E-BAD39923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1917FD-A771-4ADF-B289-1F8CA012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Source: git ls-files, find src/tests/docs, wc -l, git diff --stat.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39215A-EF38-47C1-8AA7-7A6BCF0D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30440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77E6E0-DCB0-44B6-9513-641C8727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BF63E1CB-63A1-4196-9BFC-A2CE8263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5032189B-17E1-468A-B258-26B97966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VERIFICATION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86319-0AF5-4294-BDDD-B999DD8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Functional coverage is broad; the current test caveat is localized to sandbox permissions.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28A74-4466-4A3C-9F11-14D8C824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819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The full library suite was run locally in this Codex sandbox. Failures were PermissionDenied panics in fake HTTP server and doctor readiness paths that need a non-sandboxed confirmation 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23604-E94B-4481-85CC-7B00A3C2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953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CB3A5-4ABE-4285-9627-AEA8A2E0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667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cargo test result in sandbox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F96B1-B053-46CB-96CF-701CFFC3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3FD97-BB74-443F-BBBD-35CEDE5C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5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B8007-232D-4ADB-B80F-F70026DF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361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E7A08-BA81-4C37-809C-1F3A4AB8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5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65D42-A970-46F9-B603-A61FBB2B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330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BD524-FCB2-4A99-AB23-F3033D3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57600"/>
            <a:ext cx="81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3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352D"/>
                </a:solidFill>
                <a:latin typeface="Arial"/>
                <a:ea typeface="Arial"/>
                <a:cs typeface="Arial"/>
              </a:rPr>
              <a:t>18 failed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B91AA-87E9-43E8-93E6-8CD3BD47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All observed failures report OS PermissionDenied / Operation not permitted.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59381-BAD1-4AC7-93B4-510856AF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333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C"/>
          </a:solidFill>
          <a:ln xmlns:a="http://schemas.openxmlformats.org/drawingml/2006/main" w="9525">
            <a:solidFill>
              <a:srgbClr val="C735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57369-C984-41D2-81D2-E9E0642F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2028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73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352D"/>
                </a:solidFill>
                <a:latin typeface="Arial"/>
                <a:ea typeface="Arial"/>
                <a:cs typeface="Arial"/>
              </a:rPr>
              <a:t>Affected areas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03BDA-489E-4332-ADF2-07733F71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20288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doctor readiness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fake HTTP provider server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OpenAI/Ollama fake transport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BD7358-AAC3-45C3-9038-44EA5713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333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D"/>
          </a:solidFill>
          <a:ln xmlns:a="http://schemas.openxmlformats.org/drawingml/2006/main" w="9525">
            <a:solidFill>
              <a:srgbClr val="2E85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001EB-15F1-4353-A9F8-3F14DEA5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66975"/>
            <a:ext cx="2028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Unaffected signal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3CA1F-F8CF-42D5-B3E7-BC492088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43200"/>
            <a:ext cx="20288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orchestrator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runtime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planner/parser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TUI/composer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state/security/workspace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0D374-38BF-47A2-991E-415C0A26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5000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A"/>
          </a:solidFill>
          <a:ln xmlns:a="http://schemas.openxmlformats.org/drawingml/2006/main" w="9525">
            <a:solidFill>
              <a:srgbClr val="E6A7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64F13-6C2F-4C49-A194-97D7DA97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Recommended verification closeout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10275-E542-455F-ADBE-41599C9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248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Run the same suite in an environment that permits local fake HTTP listeners, then run the documented real-provider smoke test with credentials.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3693DF-96A3-4DDC-B52E-F0D9B843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DFD2B-6039-4FB8-A722-3E8045A3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809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Source: cargo test run on 2026-05-15; docs/test-owned/real-provider-smoke.md.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4C88B7-E790-4CB7-B30D-816603CB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34935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3DF8B1-3165-4CE5-8D2B-3BCBB989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2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7C538B2C-7465-4C49-9EA1-1D4880A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3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355F9A2D-F07C-4107-B56C-D9FD1E53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6875"/>
                </a:solidFill>
                <a:latin typeface="Arial"/>
                <a:ea typeface="Arial"/>
                <a:cs typeface="Arial"/>
              </a:rPr>
              <a:t>NEXT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4D92C-2E2D-45AB-A252-913642FD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remaining work is validation and adoption packaging, not a core redesign.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1971C-D414-4C4A-87C7-0DFBB593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8001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The architecture, state model, prompt-first UX, and safety gates are in place. The next decisions are about hardening, demoing, and defining the path to broader internal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93FAF-1D21-4D8C-A262-05FB91F0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476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3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B21B8-8BB9-42B4-8860-EC7B19D3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32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3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3E0"/>
                </a:solidFill>
                <a:latin typeface="Arial"/>
                <a:ea typeface="Arial"/>
                <a:cs typeface="Arial"/>
              </a:rPr>
              <a:t>1. Confirm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88B75-CA78-45EA-B3DA-12CA005A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217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Re-run cargo test outside the sandbox.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Close fake HTTP/doctor PermissionDenied caveat.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Capture a clean test log.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7F825D-C10F-4FC0-B5D6-1E96DAF1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19400"/>
            <a:ext cx="2476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85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C4856-6EFB-4D94-BBED-A858D424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9432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85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E8540"/>
                </a:solidFill>
                <a:latin typeface="Arial"/>
                <a:ea typeface="Arial"/>
                <a:cs typeface="Arial"/>
              </a:rPr>
              <a:t>2. Prove provider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E9F02-F009-40D1-93C0-5F15108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19450"/>
            <a:ext cx="217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Run real-provider smoke flow.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Validate Arm proxy, Ollama, ticket resolver, resume, and artifacts.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Document expected setup.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9A08E-6097-40A1-92C8-2A9CE165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2476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A7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14ACC-42AD-44AC-B175-D493B75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43225"/>
            <a:ext cx="2171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A70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6A700"/>
                </a:solidFill>
                <a:latin typeface="Arial"/>
                <a:ea typeface="Arial"/>
                <a:cs typeface="Arial"/>
              </a:rPr>
              <a:t>3. Package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495F67-BC47-412B-8169-9203699C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19450"/>
            <a:ext cx="21717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Use one clean target repo.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Show prompt -&gt; plan -&gt; task -&gt; stuck ticket -&gt; resolution -&gt; acceptance.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Keep slash commands visible.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07A82-8F41-43AF-98D4-A1B9FE10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2000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FCA61-B6B8-40DE-B21A-BBB74A59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43225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022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0225"/>
                </a:solidFill>
                <a:latin typeface="Arial"/>
                <a:ea typeface="Arial"/>
                <a:cs typeface="Arial"/>
              </a:rPr>
              <a:t>4. Decide v1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95822-4010-4055-8911-D3727074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19450"/>
            <a:ext cx="1695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Background mode?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Parallel workers?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Rename harness to agent?</a:t>
            </a:r>
          </a:p>
          <a:p xmlns:a="http://schemas.openxmlformats.org/drawingml/2006/main">
            <a:pPr algn="l">
              <a:defRPr sz="788" b="0">
                <a:solidFill>
                  <a:srgbClr val="5D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D6875"/>
                </a:solidFill>
                <a:latin typeface="Arial"/>
                <a:ea typeface="Arial"/>
                <a:cs typeface="Arial"/>
              </a:rPr>
              <a:t>Replanning command?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98D0BF-3EBE-4FEE-8BC2-445E5492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ask: approve a validation closeout and demo pass before expanding scope.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566BB-7964-4A26-BEA9-A9EBAD7E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91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B6C0C-3771-4BE0-9E4A-C0F46A2C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6286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C5D4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8C5D4"/>
                </a:solidFill>
                <a:latin typeface="Arial"/>
                <a:ea typeface="Arial"/>
                <a:cs typeface="Arial"/>
              </a:rPr>
              <a:t>Source: current repo state, README limitations, Phase 3 non-goals.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859F2-DB71-41E1-BEED-6B46065F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198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A8C5D4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A8C5D4"/>
                </a:solidFill>
                <a:latin typeface="Arial"/>
                <a:ea typeface="Arial"/>
                <a:cs typeface="Arial"/>
              </a:rPr>
              <a:t>Brand note: no official Arm logo/template was supplied, so the deck avoids unverified identity assets.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6DCE8E-93D7-4D69-8B17-92251907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29375"/>
            <a:ext cx="609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C5D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8C5D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668411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2026-05-15T21:28:30.2940000Z</dcterms:created>
  <dcterms:modified xsi:type="dcterms:W3CDTF">2026-05-15T21:28:30.2940000Z</dcterms:modified>
</coreProperties>
</file>